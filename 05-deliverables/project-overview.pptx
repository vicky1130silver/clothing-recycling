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8b56da172a402e" /><Relationship Type="http://schemas.openxmlformats.org/officeDocument/2006/relationships/extended-properties" Target="/docProps/app.xml" Id="R5a1d6cd147684331" /><Relationship Type="http://schemas.openxmlformats.org/officeDocument/2006/relationships/officeDocument" Target="/ppt/presentation.xml" Id="R83760f80451543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02d35a64d04380"/>
  </p:sldMasterIdLst>
  <p:notesMasterIdLst>
    <p:notesMasterId xmlns:r="http://schemas.openxmlformats.org/officeDocument/2006/relationships" r:id="Rd482563a85874c38"/>
  </p:notesMasterIdLst>
  <p:sldIdLst>
    <p:sldId xmlns:r="http://schemas.openxmlformats.org/officeDocument/2006/relationships" id="256" r:id="Rd9608beb0d4d47a7"/>
  </p:sldIdLst>
  <p:sldSz cx="34290000" cy="24384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93489e30404f71" /><Relationship Type="http://schemas.openxmlformats.org/officeDocument/2006/relationships/slideMaster" Target="/ppt/slideMasters/slideMaster1.xml" Id="R5e02d35a64d04380" /><Relationship Type="http://schemas.openxmlformats.org/officeDocument/2006/relationships/notesMaster" Target="/ppt/notesMasters/notesMaster1.xml" Id="Rd482563a85874c38" /><Relationship Type="http://schemas.openxmlformats.org/officeDocument/2006/relationships/presProps" Target="/ppt/presProps.xml" Id="R4024e379ac8a4edd" /><Relationship Type="http://schemas.openxmlformats.org/officeDocument/2006/relationships/tableStyles" Target="/ppt/tableStyles.xml" Id="R2a30e26e241e4194" /><Relationship Type="http://schemas.openxmlformats.org/officeDocument/2006/relationships/slide" Target="/ppt/slides/slide1.xml" Id="Rd9608beb0d4d47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5a85c0dc4c840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247853edbe46df" /><Relationship Type="http://schemas.openxmlformats.org/officeDocument/2006/relationships/notesMaster" Target="/ppt/notesMasters/notesMaster1.xml" Id="Rd0ee11c162fe48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角色“第一负责人”和大致项目周期2024年11月至2025年5月由用户提供。用户授权按整个周期安排四阶段：2024年11—12月研究与数据准备、2025年1月清洗与口径确认、2—3月分析与交叉核对、4—5月看板与方案输出。阶段月份按工作内容整理，不是另有逐月完成记录佐证。职责按本次分析交付范围整理。公开源REES46/Kaggle服饰行为，2019-10-01至10-14 UTC，545468条清洗记录。项目周期与公开数据观察窗不同，不混淆。不是小程序线上数据。实际SQL为SQLite执行结果报告，BI截图为HTML/JavaScript看板，非原生Power BI。服饰子集无加购，采用浏览至购买两步漏斗。M为购买事件价格之和，无数量、退款与成本，不是净收入。运营建议尚未实施。发布方：https://data.rees46.com/。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35142897cc4b6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f75e40e0ff4d1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44af08186949b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eca1cab60b4a2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1d140c609845b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a2a31dd73d4c4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DF4C53F-BBE0-46CF-B5B6-B98BFD5D2A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04196B0-4A2E-444A-B8DE-D04C87B0CB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9F1B1E3-5772-4018-BB23-D065A9B9D7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65B7403-2235-4E37-B3D9-3C61F1DCBE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37F2B9C-A1F1-4271-BFBA-90ECE509F8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15D1DC7-5244-4753-85A8-D957A29D9F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F24A2F0-0599-4D53-9974-7E6FD82FE9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CB946B8-9F4A-481B-932C-0A84D771BE4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707A18C-58BF-4A98-83E8-F70F8185C0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D51F2EF-ADB2-4B07-B4D6-F96DF23C45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fe163bb5164258" /><Relationship Type="http://schemas.openxmlformats.org/officeDocument/2006/relationships/slideLayout" Target="/ppt/slideLayouts/slideLayout1.xml" Id="R2ec7c8b1cee34ed4" /><Relationship Type="http://schemas.openxmlformats.org/officeDocument/2006/relationships/slideLayout" Target="/ppt/slideLayouts/slideLayout2.xml" Id="R8a852f786a1a495b" /><Relationship Type="http://schemas.openxmlformats.org/officeDocument/2006/relationships/slideLayout" Target="/ppt/slideLayouts/slideLayout3.xml" Id="Rfb363c86a0454b9c" /><Relationship Type="http://schemas.openxmlformats.org/officeDocument/2006/relationships/slideLayout" Target="/ppt/slideLayouts/slideLayout4.xml" Id="R66f617ca9a864601" /><Relationship Type="http://schemas.openxmlformats.org/officeDocument/2006/relationships/slideLayout" Target="/ppt/slideLayouts/slideLayout5.xml" Id="R6953ab15b8a6440c" /><Relationship Type="http://schemas.openxmlformats.org/officeDocument/2006/relationships/slideLayout" Target="/ppt/slideLayouts/slideLayout6.xml" Id="R2810fd2f189b4b1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c7c8b1cee34ed4"/>
    <p:sldLayoutId xmlns:r="http://schemas.openxmlformats.org/officeDocument/2006/relationships" id="2147483650" r:id="R8a852f786a1a495b"/>
    <p:sldLayoutId xmlns:r="http://schemas.openxmlformats.org/officeDocument/2006/relationships" id="2147483651" r:id="Rfb363c86a0454b9c"/>
    <p:sldLayoutId xmlns:r="http://schemas.openxmlformats.org/officeDocument/2006/relationships" id="2147483652" r:id="R66f617ca9a864601"/>
    <p:sldLayoutId xmlns:r="http://schemas.openxmlformats.org/officeDocument/2006/relationships" id="2147483653" r:id="R6953ab15b8a6440c"/>
    <p:sldLayoutId xmlns:r="http://schemas.openxmlformats.org/officeDocument/2006/relationships" id="2147483654" r:id="R2810fd2f189b4b1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ff1c3913b54224" /><Relationship Type="http://schemas.openxmlformats.org/officeDocument/2006/relationships/image" Target="/ppt/media/image.jpeg" Id="R28934551733d47ea" /><Relationship Type="http://schemas.openxmlformats.org/officeDocument/2006/relationships/image" Target="/ppt/media/image2.jpeg" Id="R73cd8b7972c44a62" /><Relationship Type="http://schemas.openxmlformats.org/officeDocument/2006/relationships/image" Target="/ppt/media/image3.jpeg" Id="R1426220d3a764a1a" /><Relationship Type="http://schemas.openxmlformats.org/officeDocument/2006/relationships/image" Target="/ppt/media/image4.jpeg" Id="R28a708158b1441b1" /><Relationship Type="http://schemas.openxmlformats.org/officeDocument/2006/relationships/notesSlide" Target="/ppt/notesSlides/notesSlide1.xml" Id="R4a4d2ed5e8da4da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衣循环小程序电商用户行为分析">
            <a:extLst xmlns:a="http://schemas.openxmlformats.org/drawingml/2006/main">
              <a:ext uri="{FF2B5EF4-FFF2-40B4-BE49-F238E27FC236}">
                <a16:creationId xmlns:a16="http://schemas.microsoft.com/office/drawing/2014/main" id="{8F979EBA-CF64-41B7-B591-6B014B1A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"/>
            <a:ext cx="32766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700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5700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5700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5700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5700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5700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5700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5700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5700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5700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rPr>
              <a:t>衣循环小程序电商用户行为分析</a:t>
            </a:r>
          </a:p>
        </p:txBody>
      </p:sp>
      <p:sp>
        <p:nvSpPr>
          <p:cNvPr id="3" name="旧衣回收与二手商城场景  /  项目成果展示">
            <a:extLst xmlns:a="http://schemas.openxmlformats.org/drawingml/2006/main">
              <a:ext uri="{FF2B5EF4-FFF2-40B4-BE49-F238E27FC236}">
                <a16:creationId xmlns:a16="http://schemas.microsoft.com/office/drawing/2014/main" id="{E65DAC57-3B2F-4BA3-A9CF-298DD593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19250"/>
            <a:ext cx="2000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0">
                <a:solidFill>
                  <a:srgbClr val="687E8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687E8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687E8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687E8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687E8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687E8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687E8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687E8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687E8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687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687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687E88"/>
                </a:solidFill>
                <a:latin typeface="Microsoft YaHei"/>
                <a:ea typeface="Microsoft YaHei"/>
                <a:cs typeface="Microsoft YaHei"/>
              </a:rPr>
              <a:t>旧衣回收与二手商城场景  /  项目成果展示</a:t>
            </a:r>
          </a:p>
        </p:txBody>
      </p:sp>
      <p:sp>
        <p:nvSpPr>
          <p:cNvPr id="4" name="54.55 万条记录    108,047 名用户">
            <a:extLst xmlns:a="http://schemas.openxmlformats.org/drawingml/2006/main">
              <a:ext uri="{FF2B5EF4-FFF2-40B4-BE49-F238E27FC236}">
                <a16:creationId xmlns:a16="http://schemas.microsoft.com/office/drawing/2014/main" id="{20A7AF62-F1CD-4CFC-B3FC-0CCD1DBE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0" y="1685925"/>
            <a:ext cx="1143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rPr>
              <a:t>54.55 万条记录    108,047 名用户</a:t>
            </a:r>
          </a:p>
        </p:txBody>
      </p:sp>
      <p:sp>
        <p:nvSpPr>
          <p:cNvPr id="5" name="第一负责人">
            <a:extLst xmlns:a="http://schemas.openxmlformats.org/drawingml/2006/main">
              <a:ext uri="{FF2B5EF4-FFF2-40B4-BE49-F238E27FC236}">
                <a16:creationId xmlns:a16="http://schemas.microsoft.com/office/drawing/2014/main" id="{AC7DC32B-84D1-463D-801C-3C6FCBF44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90825"/>
            <a:ext cx="581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800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4800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4800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4800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4800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4800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4800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4800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4800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4800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rPr>
              <a:t>第一负责人</a:t>
            </a:r>
          </a:p>
        </p:txBody>
      </p:sp>
      <p:sp>
        <p:nvSpPr>
          <p:cNvPr id="6" name="朱怡筠">
            <a:extLst xmlns:a="http://schemas.openxmlformats.org/drawingml/2006/main">
              <a:ext uri="{FF2B5EF4-FFF2-40B4-BE49-F238E27FC236}">
                <a16:creationId xmlns:a16="http://schemas.microsoft.com/office/drawing/2014/main" id="{DFA08831-2FAC-44DE-B005-0A7BC278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57625"/>
            <a:ext cx="581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rPr>
              <a:t>朱怡筠</a:t>
            </a:r>
          </a:p>
        </p:txBody>
      </p:sp>
      <p:sp>
        <p:nvSpPr>
          <p:cNvPr id="7" name="我负责的工作">
            <a:extLst xmlns:a="http://schemas.openxmlformats.org/drawingml/2006/main">
              <a:ext uri="{FF2B5EF4-FFF2-40B4-BE49-F238E27FC236}">
                <a16:creationId xmlns:a16="http://schemas.microsoft.com/office/drawing/2014/main" id="{19F4EFE0-6D9D-4531-9D2A-3FD01954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33950"/>
            <a:ext cx="581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92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92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92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92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92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92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92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92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92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92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rPr>
              <a:t>我负责的工作</a:t>
            </a:r>
          </a:p>
        </p:txBody>
      </p:sp>
      <p:sp>
        <p:nvSpPr>
          <p:cNvPr id="8" name="统筹研究问题与指标口径&#10;推进数据清洗与质量核对&#10;组">
            <a:extLst xmlns:a="http://schemas.openxmlformats.org/drawingml/2006/main">
              <a:ext uri="{FF2B5EF4-FFF2-40B4-BE49-F238E27FC236}">
                <a16:creationId xmlns:a16="http://schemas.microsoft.com/office/drawing/2014/main" id="{31341D95-637E-4D3B-86F3-65AE7D14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05475"/>
            <a:ext cx="58102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rPr>
              <a:t>统筹研究问题与指标口径</a:t>
            </a:r>
          </a:p>
          <a:p xmlns:a="http://schemas.openxmlformats.org/drawingml/2006/main">
            <a:pPr>
              <a:defRPr sz="2475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rPr>
              <a:t>推进数据清洗与质量核对</a:t>
            </a:r>
          </a:p>
          <a:p xmlns:a="http://schemas.openxmlformats.org/drawingml/2006/main">
            <a:pPr>
              <a:defRPr sz="2475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rPr>
              <a:t>组织漏斗、留存与RFM分析</a:t>
            </a:r>
          </a:p>
          <a:p xmlns:a="http://schemas.openxmlformats.org/drawingml/2006/main">
            <a:pPr>
              <a:defRPr sz="2475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rPr>
              <a:t>汇总看板、结论与运营建议</a:t>
            </a:r>
          </a:p>
        </p:txBody>
      </p:sp>
      <p:sp>
        <p:nvSpPr>
          <p:cNvPr id="9" name="整体推进流程">
            <a:extLst xmlns:a="http://schemas.openxmlformats.org/drawingml/2006/main">
              <a:ext uri="{FF2B5EF4-FFF2-40B4-BE49-F238E27FC236}">
                <a16:creationId xmlns:a16="http://schemas.microsoft.com/office/drawing/2014/main" id="{9638CAC3-CEEC-47A4-805C-62957B8E8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886825"/>
            <a:ext cx="581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rPr>
              <a:t>整体推进流程</a:t>
            </a:r>
          </a:p>
        </p:txBody>
      </p:sp>
      <p:sp>
        <p:nvSpPr>
          <p:cNvPr id="10" name="2024.11—2025.05（约）">
            <a:extLst xmlns:a="http://schemas.openxmlformats.org/drawingml/2006/main">
              <a:ext uri="{FF2B5EF4-FFF2-40B4-BE49-F238E27FC236}">
                <a16:creationId xmlns:a16="http://schemas.microsoft.com/office/drawing/2014/main" id="{402E7D90-EDA6-4DAC-B6EF-570C39FF7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601200"/>
            <a:ext cx="581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687E8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687E8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687E8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687E8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687E8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687E8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687E8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687E8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687E8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687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87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87E88"/>
                </a:solidFill>
                <a:latin typeface="Microsoft YaHei"/>
                <a:ea typeface="Microsoft YaHei"/>
                <a:cs typeface="Microsoft YaHei"/>
              </a:rPr>
              <a:t>2024.11—2025.05（约）</a:t>
            </a:r>
          </a:p>
        </p:txBody>
      </p:sp>
      <p:sp>
        <p:nvSpPr>
          <p:cNvPr id="11" name="01">
            <a:extLst xmlns:a="http://schemas.openxmlformats.org/drawingml/2006/main">
              <a:ext uri="{FF2B5EF4-FFF2-40B4-BE49-F238E27FC236}">
                <a16:creationId xmlns:a16="http://schemas.microsoft.com/office/drawing/2014/main" id="{91901C7E-2CA8-4D15-8A55-B07C05E2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72515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5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2024.11—2024.12">
            <a:extLst xmlns:a="http://schemas.openxmlformats.org/drawingml/2006/main">
              <a:ext uri="{FF2B5EF4-FFF2-40B4-BE49-F238E27FC236}">
                <a16:creationId xmlns:a16="http://schemas.microsoft.com/office/drawing/2014/main" id="{6EB27834-2174-430E-8916-D2DB0ADE6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0496550"/>
            <a:ext cx="481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rPr>
              <a:t>2024.11—2024.12</a:t>
            </a:r>
          </a:p>
        </p:txBody>
      </p:sp>
      <p:sp>
        <p:nvSpPr>
          <p:cNvPr id="13" name="研究与数据准备">
            <a:extLst xmlns:a="http://schemas.openxmlformats.org/drawingml/2006/main">
              <a:ext uri="{FF2B5EF4-FFF2-40B4-BE49-F238E27FC236}">
                <a16:creationId xmlns:a16="http://schemas.microsoft.com/office/drawing/2014/main" id="{98442FED-53BF-4C87-9454-C5ED290C7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0944225"/>
            <a:ext cx="4810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rPr>
              <a:t>研究与数据准备</a:t>
            </a:r>
          </a:p>
        </p:txBody>
      </p:sp>
      <p:sp>
        <p:nvSpPr>
          <p:cNvPr id="14" name="明确二手商城的分析目标&#10;筛选公开服饰行为数据">
            <a:extLst xmlns:a="http://schemas.openxmlformats.org/drawingml/2006/main">
              <a:ext uri="{FF2B5EF4-FFF2-40B4-BE49-F238E27FC236}">
                <a16:creationId xmlns:a16="http://schemas.microsoft.com/office/drawing/2014/main" id="{EC0ED12C-7760-4B88-BB59-ABA886D58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1506200"/>
            <a:ext cx="48101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rPr>
              <a:t>明确二手商城的分析目标</a:t>
            </a:r>
          </a:p>
          <a:p xmlns:a="http://schemas.openxmlformats.org/drawingml/2006/main">
            <a:pPr>
              <a:defRPr sz="210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rPr>
              <a:t>筛选公开服饰行为数据</a:t>
            </a:r>
          </a:p>
        </p:txBody>
      </p:sp>
      <p:sp>
        <p:nvSpPr>
          <p:cNvPr id="15" name="02">
            <a:extLst xmlns:a="http://schemas.openxmlformats.org/drawingml/2006/main">
              <a:ext uri="{FF2B5EF4-FFF2-40B4-BE49-F238E27FC236}">
                <a16:creationId xmlns:a16="http://schemas.microsoft.com/office/drawing/2014/main" id="{C5888AC8-9C7D-4ED7-A691-D00C40ED0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59205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5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2025.01">
            <a:extLst xmlns:a="http://schemas.openxmlformats.org/drawingml/2006/main">
              <a:ext uri="{FF2B5EF4-FFF2-40B4-BE49-F238E27FC236}">
                <a16:creationId xmlns:a16="http://schemas.microsoft.com/office/drawing/2014/main" id="{38D21592-EFE5-4383-875E-6AF8F5E8C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2363450"/>
            <a:ext cx="481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rPr>
              <a:t>2025.01</a:t>
            </a:r>
          </a:p>
        </p:txBody>
      </p:sp>
      <p:sp>
        <p:nvSpPr>
          <p:cNvPr id="17" name="清洗与口径确认">
            <a:extLst xmlns:a="http://schemas.openxmlformats.org/drawingml/2006/main">
              <a:ext uri="{FF2B5EF4-FFF2-40B4-BE49-F238E27FC236}">
                <a16:creationId xmlns:a16="http://schemas.microsoft.com/office/drawing/2014/main" id="{CE23A133-F806-4316-94B7-9DAB65B8C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2811125"/>
            <a:ext cx="4810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rPr>
              <a:t>清洗与口径确认</a:t>
            </a:r>
          </a:p>
        </p:txBody>
      </p:sp>
      <p:sp>
        <p:nvSpPr>
          <p:cNvPr id="18" name="SQL去重并核对记录总量&#10;明确路径、留存和金额口径">
            <a:extLst xmlns:a="http://schemas.openxmlformats.org/drawingml/2006/main">
              <a:ext uri="{FF2B5EF4-FFF2-40B4-BE49-F238E27FC236}">
                <a16:creationId xmlns:a16="http://schemas.microsoft.com/office/drawing/2014/main" id="{5C876AAC-7408-4F28-BE3F-5D54A0728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3373100"/>
            <a:ext cx="48101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rPr>
              <a:t>SQL去重并核对记录总量</a:t>
            </a:r>
          </a:p>
          <a:p xmlns:a="http://schemas.openxmlformats.org/drawingml/2006/main">
            <a:pPr>
              <a:defRPr sz="210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rPr>
              <a:t>明确路径、留存和金额口径</a:t>
            </a:r>
          </a:p>
        </p:txBody>
      </p:sp>
      <p:sp>
        <p:nvSpPr>
          <p:cNvPr id="19" name="03">
            <a:extLst xmlns:a="http://schemas.openxmlformats.org/drawingml/2006/main">
              <a:ext uri="{FF2B5EF4-FFF2-40B4-BE49-F238E27FC236}">
                <a16:creationId xmlns:a16="http://schemas.microsoft.com/office/drawing/2014/main" id="{FD8DB70E-1D78-4278-993B-7D7D38FEE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45895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5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2025.02—2025.03">
            <a:extLst xmlns:a="http://schemas.openxmlformats.org/drawingml/2006/main">
              <a:ext uri="{FF2B5EF4-FFF2-40B4-BE49-F238E27FC236}">
                <a16:creationId xmlns:a16="http://schemas.microsoft.com/office/drawing/2014/main" id="{6102145C-55AC-4047-AA9D-D9B88AE8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4230350"/>
            <a:ext cx="481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rPr>
              <a:t>2025.02—2025.03</a:t>
            </a:r>
          </a:p>
        </p:txBody>
      </p:sp>
      <p:sp>
        <p:nvSpPr>
          <p:cNvPr id="21" name="分析与交叉核对">
            <a:extLst xmlns:a="http://schemas.openxmlformats.org/drawingml/2006/main">
              <a:ext uri="{FF2B5EF4-FFF2-40B4-BE49-F238E27FC236}">
                <a16:creationId xmlns:a16="http://schemas.microsoft.com/office/drawing/2014/main" id="{AF7D4789-A423-4105-894D-226508A2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4678025"/>
            <a:ext cx="4810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rPr>
              <a:t>分析与交叉核对</a:t>
            </a:r>
          </a:p>
        </p:txBody>
      </p:sp>
      <p:sp>
        <p:nvSpPr>
          <p:cNvPr id="22" name="完成交易漏斗、Cohort与RFM&#10;用Python">
            <a:extLst xmlns:a="http://schemas.openxmlformats.org/drawingml/2006/main">
              <a:ext uri="{FF2B5EF4-FFF2-40B4-BE49-F238E27FC236}">
                <a16:creationId xmlns:a16="http://schemas.microsoft.com/office/drawing/2014/main" id="{8E29DE4E-356B-451D-9E4B-35ADEF25C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5240000"/>
            <a:ext cx="48101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rPr>
              <a:t>完成交易漏斗、Cohort与RFM</a:t>
            </a:r>
          </a:p>
          <a:p xmlns:a="http://schemas.openxmlformats.org/drawingml/2006/main">
            <a:pPr>
              <a:defRPr sz="210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rPr>
              <a:t>用Python复核分母及汇总</a:t>
            </a:r>
          </a:p>
        </p:txBody>
      </p:sp>
      <p:sp>
        <p:nvSpPr>
          <p:cNvPr id="23" name="04">
            <a:extLst xmlns:a="http://schemas.openxmlformats.org/drawingml/2006/main">
              <a:ext uri="{FF2B5EF4-FFF2-40B4-BE49-F238E27FC236}">
                <a16:creationId xmlns:a16="http://schemas.microsoft.com/office/drawing/2014/main" id="{71F37306-77A7-45B7-B780-667460DC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32585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5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4" name="2025.04—2025.05">
            <a:extLst xmlns:a="http://schemas.openxmlformats.org/drawingml/2006/main">
              <a:ext uri="{FF2B5EF4-FFF2-40B4-BE49-F238E27FC236}">
                <a16:creationId xmlns:a16="http://schemas.microsoft.com/office/drawing/2014/main" id="{B3005BA6-621E-45C9-902E-8EC62099A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6097250"/>
            <a:ext cx="481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rPr>
              <a:t>2025.04—2025.05</a:t>
            </a:r>
          </a:p>
        </p:txBody>
      </p:sp>
      <p:sp>
        <p:nvSpPr>
          <p:cNvPr id="25" name="看板与方案输出">
            <a:extLst xmlns:a="http://schemas.openxmlformats.org/drawingml/2006/main">
              <a:ext uri="{FF2B5EF4-FFF2-40B4-BE49-F238E27FC236}">
                <a16:creationId xmlns:a16="http://schemas.microsoft.com/office/drawing/2014/main" id="{337FD575-4651-4835-A293-2131C6F04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6544925"/>
            <a:ext cx="4810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rPr>
              <a:t>看板与方案输出</a:t>
            </a:r>
          </a:p>
        </p:txBody>
      </p:sp>
      <p:sp>
        <p:nvSpPr>
          <p:cNvPr id="26" name="整理分析截图和关键结论&#10;形成3条待验证运营建议">
            <a:extLst xmlns:a="http://schemas.openxmlformats.org/drawingml/2006/main">
              <a:ext uri="{FF2B5EF4-FFF2-40B4-BE49-F238E27FC236}">
                <a16:creationId xmlns:a16="http://schemas.microsoft.com/office/drawing/2014/main" id="{94AE9D85-BF2E-48FE-A61C-0D7D73D1A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7106900"/>
            <a:ext cx="48101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rPr>
              <a:t>整理分析截图和关键结论</a:t>
            </a:r>
          </a:p>
          <a:p xmlns:a="http://schemas.openxmlformats.org/drawingml/2006/main">
            <a:pPr>
              <a:defRPr sz="210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rPr>
              <a:t>形成3条待验证运营建议</a:t>
            </a:r>
          </a:p>
        </p:txBody>
      </p:sp>
      <p:sp>
        <p:nvSpPr>
          <p:cNvPr id="27" name="业务定位">
            <a:extLst xmlns:a="http://schemas.openxmlformats.org/drawingml/2006/main">
              <a:ext uri="{FF2B5EF4-FFF2-40B4-BE49-F238E27FC236}">
                <a16:creationId xmlns:a16="http://schemas.microsoft.com/office/drawing/2014/main" id="{2ADA5279-0DB6-450C-BAC7-1F045BC08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64200"/>
            <a:ext cx="581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6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rPr>
              <a:t>业务定位</a:t>
            </a:r>
          </a:p>
        </p:txBody>
      </p:sp>
      <p:sp>
        <p:nvSpPr>
          <p:cNvPr id="28" name="旧衣回收小程序中的二手商城&#10;以公开服饰数据验证分析">
            <a:extLst xmlns:a="http://schemas.openxmlformats.org/drawingml/2006/main">
              <a:ext uri="{FF2B5EF4-FFF2-40B4-BE49-F238E27FC236}">
                <a16:creationId xmlns:a16="http://schemas.microsoft.com/office/drawing/2014/main" id="{41ED1067-1BA0-4919-B98F-32091404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983325"/>
            <a:ext cx="58102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rPr>
              <a:t>旧衣回收小程序中的二手商城</a:t>
            </a:r>
          </a:p>
          <a:p xmlns:a="http://schemas.openxmlformats.org/drawingml/2006/main">
            <a:pPr>
              <a:defRPr sz="2175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rPr>
              <a:t>以公开服饰数据验证分析方法</a:t>
            </a:r>
          </a:p>
        </p:txBody>
      </p:sp>
      <p:sp>
        <p:nvSpPr>
          <p:cNvPr id="29" name="01  SQL清洗与路径查询">
            <a:extLst xmlns:a="http://schemas.openxmlformats.org/drawingml/2006/main">
              <a:ext uri="{FF2B5EF4-FFF2-40B4-BE49-F238E27FC236}">
                <a16:creationId xmlns:a16="http://schemas.microsoft.com/office/drawing/2014/main" id="{4C5B3A3C-E48E-4C90-9CEF-EE28B6B4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81300"/>
            <a:ext cx="1209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rPr>
              <a:t>01  SQL清洗与路径查询</a:t>
            </a:r>
          </a:p>
        </p:txBody>
      </p:sp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9D142D-86D2-4579-98E3-29EC72F9C5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934551733d47ea"/>
          <a:stretch xmlns:a="http://schemas.openxmlformats.org/drawingml/2006/main"/>
        </p:blipFill>
        <p:spPr>
          <a:xfrm xmlns:a="http://schemas.openxmlformats.org/drawingml/2006/main">
            <a:off x="9414551" y="3600450"/>
            <a:ext cx="8460024" cy="6286500"/>
          </a:xfrm>
          <a:prstGeom xmlns:a="http://schemas.openxmlformats.org/drawingml/2006/main" prst="rect">
            <a:avLst/>
          </a:prstGeom>
        </p:spPr>
      </p:pic>
      <p:sp>
        <p:nvSpPr>
          <p:cNvPr id="31" name="保留545,468条记录，去重5条。&#10;458,22">
            <a:extLst xmlns:a="http://schemas.openxmlformats.org/drawingml/2006/main">
              <a:ext uri="{FF2B5EF4-FFF2-40B4-BE49-F238E27FC236}">
                <a16:creationId xmlns:a16="http://schemas.microsoft.com/office/drawing/2014/main" id="{F8E7F347-1B03-441C-8E96-687ECFA9F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0134600"/>
            <a:ext cx="12096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rPr>
              <a:t>保留545,468条记录，去重5条。</a:t>
            </a:r>
          </a:p>
          <a:p xmlns:a="http://schemas.openxmlformats.org/drawingml/2006/main">
            <a:pPr>
              <a:def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rPr>
              <a:t>458,220条浏览路径中，2,426条浏览后购买。</a:t>
            </a:r>
          </a:p>
        </p:txBody>
      </p:sp>
      <p:sp>
        <p:nvSpPr>
          <p:cNvPr id="32" name="02  BI经营概览">
            <a:extLst xmlns:a="http://schemas.openxmlformats.org/drawingml/2006/main">
              <a:ext uri="{FF2B5EF4-FFF2-40B4-BE49-F238E27FC236}">
                <a16:creationId xmlns:a16="http://schemas.microsoft.com/office/drawing/2014/main" id="{7F674E20-975B-4953-A811-2CA3E4EB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0" y="2781300"/>
            <a:ext cx="1257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rPr>
              <a:t>02  BI经营概览</a:t>
            </a:r>
          </a:p>
        </p:txBody>
      </p:sp>
      <p:pic>
        <p:nvPic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EB1EF5-F717-4020-A87E-7D4B62BD2D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cd8b7972c44a62"/>
          <a:stretch xmlns:a="http://schemas.openxmlformats.org/drawingml/2006/main"/>
        </p:blipFill>
        <p:spPr>
          <a:xfrm xmlns:a="http://schemas.openxmlformats.org/drawingml/2006/main">
            <a:off x="22971117" y="3533775"/>
            <a:ext cx="8350266" cy="6429375"/>
          </a:xfrm>
          <a:prstGeom xmlns:a="http://schemas.openxmlformats.org/drawingml/2006/main" prst="rect">
            <a:avLst/>
          </a:prstGeom>
        </p:spPr>
      </p:pic>
      <p:sp>
        <p:nvSpPr>
          <p:cNvPr id="34" name="汇总用户规模、交易路径、每日活跃与分群金额。&#10;提供">
            <a:extLst xmlns:a="http://schemas.openxmlformats.org/drawingml/2006/main">
              <a:ext uri="{FF2B5EF4-FFF2-40B4-BE49-F238E27FC236}">
                <a16:creationId xmlns:a16="http://schemas.microsoft.com/office/drawing/2014/main" id="{BFB316DD-74DD-41DB-A90E-26F57C5F7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0" y="10134600"/>
            <a:ext cx="12382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rPr>
              <a:t>汇总用户规模、交易路径、每日活跃与分群金额。</a:t>
            </a:r>
          </a:p>
          <a:p xmlns:a="http://schemas.openxmlformats.org/drawingml/2006/main">
            <a:pPr>
              <a:def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rPr>
              <a:t>提供可交互看板，支持页面切换和服饰子类筛选。</a:t>
            </a:r>
          </a:p>
        </p:txBody>
      </p:sp>
      <p:sp>
        <p:nvSpPr>
          <p:cNvPr id="35" name="03  Cohort回访留存分析">
            <a:extLst xmlns:a="http://schemas.openxmlformats.org/drawingml/2006/main">
              <a:ext uri="{FF2B5EF4-FFF2-40B4-BE49-F238E27FC236}">
                <a16:creationId xmlns:a16="http://schemas.microsoft.com/office/drawing/2014/main" id="{F55488E9-92C1-411D-B0F5-638CC72F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1830050"/>
            <a:ext cx="1209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rPr>
              <a:t>03  Cohort回访留存分析</a:t>
            </a:r>
          </a:p>
        </p:txBody>
      </p:sp>
      <p:pic>
        <p:nvPic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9804E6C-12F1-4183-B904-7AA89F3275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26220d3a764a1a"/>
          <a:stretch xmlns:a="http://schemas.openxmlformats.org/drawingml/2006/main"/>
        </p:blipFill>
        <p:spPr>
          <a:xfrm xmlns:a="http://schemas.openxmlformats.org/drawingml/2006/main">
            <a:off x="9704959" y="12601575"/>
            <a:ext cx="7879206" cy="6191250"/>
          </a:xfrm>
          <a:prstGeom xmlns:a="http://schemas.openxmlformats.org/drawingml/2006/main" prst="rect">
            <a:avLst/>
          </a:prstGeom>
        </p:spPr>
      </p:pic>
      <p:sp>
        <p:nvSpPr>
          <p:cNvPr id="37" name="按首次观察活动日期划分队列。&#10;D7仅纳入有完整观察">
            <a:extLst xmlns:a="http://schemas.openxmlformats.org/drawingml/2006/main">
              <a:ext uri="{FF2B5EF4-FFF2-40B4-BE49-F238E27FC236}">
                <a16:creationId xmlns:a16="http://schemas.microsoft.com/office/drawing/2014/main" id="{77E74AFF-6614-430E-BDF9-BE487953A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002375"/>
            <a:ext cx="1209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rPr>
              <a:t>按首次观察活动日期划分队列。</a:t>
            </a:r>
          </a:p>
          <a:p xmlns:a="http://schemas.openxmlformats.org/drawingml/2006/main">
            <a:pPr>
              <a:def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rPr>
              <a:t>D7仅纳入有完整观察窗口的44,913名用户。</a:t>
            </a:r>
          </a:p>
        </p:txBody>
      </p:sp>
      <p:sp>
        <p:nvSpPr>
          <p:cNvPr id="38" name="04  RFM用户分层">
            <a:extLst xmlns:a="http://schemas.openxmlformats.org/drawingml/2006/main">
              <a:ext uri="{FF2B5EF4-FFF2-40B4-BE49-F238E27FC236}">
                <a16:creationId xmlns:a16="http://schemas.microsoft.com/office/drawing/2014/main" id="{74540B75-FAB7-47D2-A8EC-11502067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0" y="11830050"/>
            <a:ext cx="1257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rPr>
              <a:t>04  RFM用户分层</a:t>
            </a:r>
          </a:p>
        </p:txBody>
      </p:sp>
      <p:pic>
        <p:nvPic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FDE9D2B-BBE6-4956-A0F4-1A54F9A355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a708158b1441b1"/>
          <a:stretch xmlns:a="http://schemas.openxmlformats.org/drawingml/2006/main"/>
        </p:blipFill>
        <p:spPr>
          <a:xfrm xmlns:a="http://schemas.openxmlformats.org/drawingml/2006/main">
            <a:off x="22686152" y="12601575"/>
            <a:ext cx="8920195" cy="6191250"/>
          </a:xfrm>
          <a:prstGeom xmlns:a="http://schemas.openxmlformats.org/drawingml/2006/main" prst="rect">
            <a:avLst/>
          </a:prstGeom>
        </p:spPr>
      </p:pic>
      <p:sp>
        <p:nvSpPr>
          <p:cNvPr id="40" name="1,794名购买用户分为4组。&#10;核心价值群体190">
            <a:extLst xmlns:a="http://schemas.openxmlformats.org/drawingml/2006/main">
              <a:ext uri="{FF2B5EF4-FFF2-40B4-BE49-F238E27FC236}">
                <a16:creationId xmlns:a16="http://schemas.microsoft.com/office/drawing/2014/main" id="{206BDEA6-C4F5-4A01-8D68-0171828CC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0" y="19002375"/>
            <a:ext cx="1238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rPr>
              <a:t>1,794名购买用户分为4组。</a:t>
            </a:r>
          </a:p>
          <a:p xmlns:a="http://schemas.openxmlformats.org/drawingml/2006/main">
            <a:pPr>
              <a:def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rPr>
              <a:t>核心价值群体190人，人均购买事件金额292.25。</a:t>
            </a:r>
          </a:p>
        </p:txBody>
      </p:sp>
      <p:sp>
        <p:nvSpPr>
          <p:cNvPr id="41" name="主要结论与下一步">
            <a:extLst xmlns:a="http://schemas.openxmlformats.org/drawingml/2006/main">
              <a:ext uri="{FF2B5EF4-FFF2-40B4-BE49-F238E27FC236}">
                <a16:creationId xmlns:a16="http://schemas.microsoft.com/office/drawing/2014/main" id="{599119FD-3CB3-4ED9-BAA1-A272EAD7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83525"/>
            <a:ext cx="3276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rPr>
              <a:t>主要结论与下一步</a:t>
            </a:r>
          </a:p>
        </p:txBody>
      </p:sp>
      <p:sp>
        <p:nvSpPr>
          <p:cNvPr id="42" name="0.53%  浏览至购买路径转化">
            <a:extLst xmlns:a="http://schemas.openxmlformats.org/drawingml/2006/main">
              <a:ext uri="{FF2B5EF4-FFF2-40B4-BE49-F238E27FC236}">
                <a16:creationId xmlns:a16="http://schemas.microsoft.com/office/drawing/2014/main" id="{273E84EF-70C4-46B2-8A16-DC1572CE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50300"/>
            <a:ext cx="9953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9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9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9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9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9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9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9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9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9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9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rPr>
              <a:t>0.53%  浏览至购买路径转化</a:t>
            </a:r>
          </a:p>
        </p:txBody>
      </p:sp>
      <p:sp>
        <p:nvSpPr>
          <p:cNvPr id="43" name="成色、瑕疵、尺码和运费信息前置。&#10;对照测试详情页的">
            <a:extLst xmlns:a="http://schemas.openxmlformats.org/drawingml/2006/main">
              <a:ext uri="{FF2B5EF4-FFF2-40B4-BE49-F238E27FC236}">
                <a16:creationId xmlns:a16="http://schemas.microsoft.com/office/drawing/2014/main" id="{4C746139-80E3-408C-A385-689FF95F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26575"/>
            <a:ext cx="9953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rPr>
              <a:t>成色、瑕疵、尺码和运费信息前置。</a:t>
            </a:r>
          </a:p>
          <a:p xmlns:a="http://schemas.openxmlformats.org/drawingml/2006/main">
            <a:pPr>
              <a:def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rPr>
              <a:t>对照测试详情页的购买路径转化。</a:t>
            </a:r>
          </a:p>
        </p:txBody>
      </p:sp>
      <p:sp>
        <p:nvSpPr>
          <p:cNvPr id="44" name="2.46%  D7精确日回访">
            <a:extLst xmlns:a="http://schemas.openxmlformats.org/drawingml/2006/main">
              <a:ext uri="{FF2B5EF4-FFF2-40B4-BE49-F238E27FC236}">
                <a16:creationId xmlns:a16="http://schemas.microsoft.com/office/drawing/2014/main" id="{2FFA0B84-6E6E-458E-99CB-3B41798E9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1450300"/>
            <a:ext cx="9953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9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9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9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9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9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9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9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9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9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9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rPr>
              <a:t>2.46%  D7精确日回访</a:t>
            </a:r>
          </a:p>
        </p:txBody>
      </p:sp>
      <p:sp>
        <p:nvSpPr>
          <p:cNvPr id="45" name="测试收货关怀与同尺码上新提醒。&#10;按完整观察窗口比较">
            <a:extLst xmlns:a="http://schemas.openxmlformats.org/drawingml/2006/main">
              <a:ext uri="{FF2B5EF4-FFF2-40B4-BE49-F238E27FC236}">
                <a16:creationId xmlns:a16="http://schemas.microsoft.com/office/drawing/2014/main" id="{97687C47-8CF6-4149-B86C-17692E03A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2126575"/>
            <a:ext cx="9953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rPr>
              <a:t>测试收货关怀与同尺码上新提醒。</a:t>
            </a:r>
          </a:p>
          <a:p xmlns:a="http://schemas.openxmlformats.org/drawingml/2006/main">
            <a:pPr>
              <a:def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rPr>
              <a:t>按完整观察窗口比较回访表现。</a:t>
            </a:r>
          </a:p>
        </p:txBody>
      </p:sp>
      <p:sp>
        <p:nvSpPr>
          <p:cNvPr id="46" name="45.71%  Top20%用户金额贡献">
            <a:extLst xmlns:a="http://schemas.openxmlformats.org/drawingml/2006/main">
              <a:ext uri="{FF2B5EF4-FFF2-40B4-BE49-F238E27FC236}">
                <a16:creationId xmlns:a16="http://schemas.microsoft.com/office/drawing/2014/main" id="{DDDC071B-A6DB-419D-B50D-DDE5DFD63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0" y="214503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7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7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7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7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7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7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7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7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7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97D73"/>
                </a:solidFill>
                <a:latin typeface="Microsoft YaHei"/>
                <a:ea typeface="Microsoft YaHei"/>
                <a:cs typeface="Microsoft YaHei"/>
              </a:rPr>
              <a:t>45.71%  Top20%用户金额贡献</a:t>
            </a:r>
          </a:p>
        </p:txBody>
      </p:sp>
      <p:sp>
        <p:nvSpPr>
          <p:cNvPr id="47" name="对高价值群体测试尺码订阅和优先上新。&#10;补充退款与成">
            <a:extLst xmlns:a="http://schemas.openxmlformats.org/drawingml/2006/main">
              <a:ext uri="{FF2B5EF4-FFF2-40B4-BE49-F238E27FC236}">
                <a16:creationId xmlns:a16="http://schemas.microsoft.com/office/drawing/2014/main" id="{A8D8A9B9-2C8F-4290-A868-33BFFD3C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0" y="22126575"/>
            <a:ext cx="990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rPr>
              <a:t>对高价值群体测试尺码订阅和优先上新。</a:t>
            </a:r>
          </a:p>
          <a:p xmlns:a="http://schemas.openxmlformats.org/drawingml/2006/main">
            <a:pPr>
              <a:def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6313F"/>
                </a:solidFill>
                <a:latin typeface="Microsoft YaHei"/>
                <a:ea typeface="Microsoft YaHei"/>
                <a:cs typeface="Microsoft YaHei"/>
              </a:rPr>
              <a:t>补充退款与成本后再评估净收益。</a:t>
            </a:r>
          </a:p>
        </p:txBody>
      </p:sp>
      <p:sp>
        <p:nvSpPr>
          <p:cNvPr id="48" name="角色及项目起止依据本人说明，阶段按工作内容整理。公">
            <a:extLst xmlns:a="http://schemas.openxmlformats.org/drawingml/2006/main">
              <a:ext uri="{FF2B5EF4-FFF2-40B4-BE49-F238E27FC236}">
                <a16:creationId xmlns:a16="http://schemas.microsoft.com/office/drawing/2014/main" id="{B613F9B2-EBBE-4FB2-9462-C36059464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69625"/>
            <a:ext cx="3276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687E8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87E8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87E8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87E8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87E8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87E8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87E8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87E8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87E8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87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87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87E88"/>
                </a:solidFill>
                <a:latin typeface="Microsoft YaHei"/>
                <a:ea typeface="Microsoft YaHei"/>
                <a:cs typeface="Microsoft YaHei"/>
              </a:rPr>
              <a:t>角色及项目起止依据本人说明，阶段按工作内容整理。公开服饰数据验证，非小程序线上日志；BI为交互式HTML版，非原生Power BI。金额为购买事件价格和。</a:t>
            </a:r>
          </a:p>
        </p:txBody>
      </p:sp>
    </p:spTree>
    <p:extLst>
      <p:ext uri="{BB962C8B-B14F-4D97-AF65-F5344CB8AC3E}">
        <p14:creationId xmlns:p14="http://schemas.microsoft.com/office/powerpoint/2010/main" val="8424766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2026-10-20T13:49:29.2780000Z</dcterms:created>
  <dcterms:modified xsi:type="dcterms:W3CDTF">2026-10-20T13:49:29.2780000Z</dcterms:modified>
</coreProperties>
</file>